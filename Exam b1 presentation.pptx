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62FAC0-D34F-4D06-8EA7-E7BC459543E6}">
  <a:tblStyle styleId="{5562FAC0-D34F-4D06-8EA7-E7BC459543E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619750" y="3099345"/>
            <a:ext cx="9525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827499" y="3699875"/>
            <a:ext cx="653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Bachelors Thesis Preparation - Current Stage</a:t>
            </a:r>
            <a:r>
              <a:rPr lang="en-US" sz="21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09975" y="4764285"/>
            <a:ext cx="497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Accuracy in </a:t>
            </a:r>
            <a:r>
              <a:rPr lang="en-US" sz="15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inematographic data </a:t>
            </a:r>
            <a:r>
              <a:rPr lang="en-US" sz="15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etrieval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1598265"/>
            <a:ext cx="11601450" cy="121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Automated Data Collection &amp; AI-Driven Synthesis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40475" y="5736575"/>
            <a:ext cx="5741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Muntean Daniel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Coord. Dr. Monica Sancira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240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133475" y="2405062"/>
            <a:ext cx="41148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366F1"/>
                </a:solidFill>
                <a:latin typeface="Poppins"/>
                <a:ea typeface="Poppins"/>
                <a:cs typeface="Poppins"/>
                <a:sym typeface="Poppins"/>
              </a:rPr>
              <a:t>&lt;90%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33475" y="3452812"/>
            <a:ext cx="4114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Search Engine Market Share (Late 2024)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04925" y="4110037"/>
            <a:ext cx="37719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366F1"/>
                </a:solidFill>
                <a:latin typeface="Poppins"/>
                <a:ea typeface="Poppins"/>
                <a:cs typeface="Poppins"/>
                <a:sym typeface="Poppins"/>
              </a:rPr>
              <a:t>80%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304925" y="5157787"/>
            <a:ext cx="3771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Consumers Relying on AI Summaries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PARADIGM SHIFT IN SEARCH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952500" y="32051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Aggressive advertising real estate cluttering UI.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7004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Restrictive paywalls blocking immediate access.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41957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Manipulated content obscuring targeted data.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46910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Users migrating toward frictionless AI agents.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432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385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33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291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FRICTION IN MODERN WEB NAVIGATION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265271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Fragmented User Experience</a:t>
            </a:r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 rotWithShape="1">
          <a:blip r:embed="rId8">
            <a:alphaModFix/>
          </a:blip>
          <a:srcRect b="-1626" l="23208" r="23670" t="0"/>
          <a:stretch/>
        </p:blipFill>
        <p:spPr>
          <a:xfrm>
            <a:off x="6568950" y="1734425"/>
            <a:ext cx="4655076" cy="43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9825"/>
            <a:ext cx="34925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09825"/>
            <a:ext cx="34925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09825"/>
            <a:ext cx="3492549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66775" y="40290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Models internalize noise and conflicting info from massive, unfiltered internet data sets.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45074" y="40290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Static internal memory post-training leads to fabrication when queried on specialized domains.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374" y="40290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Prioritizing conversational flow or formatting over factual fidelity in complex instructions.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27527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5699" y="27527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VULNERABILITIES: AI HALLUCINATIONS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94225" y="343852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Pre-training Noise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572524" y="343852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Knowledge Gaps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350824" y="343852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Prompt Erraticism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2190750" y="2471737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Siloed Platforms: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Relevant data is distributed across heterogeneous sources with inconsistent formats.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2190750" y="3271837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Efficiency Gap: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Real value depends on how efficiently data is integrated and interpreted.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190750" y="3767137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Accuracy Mandate: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Need for architectures that separate the LLM processing engine from the knowledge base.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2190750" y="4567237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Unified Automation: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Converting raw metadata into consistent, digestible, and accurate output formats.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5098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3099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8052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60533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MOTIVATION FOR HYBRID SOLUTIONS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32956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web-based application designed to bridge the gap between distributed cinematographic data and AI interpretation.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428625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By enforcing a platform-specific constraint, the system restricts the AI's "world knowledge" to the specific metadata retrieved from external datasets, eliminating generic interpolations.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571500"/>
            <a:ext cx="520065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PROPOSED SOLUTION: MOVIE ANALYZER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2562225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Architectural Grounding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/>
          <p:nvPr/>
        </p:nvSpPr>
        <p:spPr>
          <a:xfrm>
            <a:off x="571500" y="390048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71525" y="4100512"/>
            <a:ext cx="24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Kaggle API queries for IMDb dataset (Latest titles).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3444155" y="4033837"/>
            <a:ext cx="243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Filtering results based on user search and metadata extraction.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316860" y="4061437"/>
            <a:ext cx="243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Gemini API analysis using targeted predefined templates.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189541" y="4095862"/>
            <a:ext cx="24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Structured HTML output for user-friendly UI integration.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METHODOLOGICAL PIPELINE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10733" y="3319462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1. Data Retrieval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3383413" y="3319462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2. Preprocessing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256094" y="3319462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3. Reasoning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128774" y="3319462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4. Presentation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1672530" y="38052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545210" y="38052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7417891" y="38052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10290571" y="38052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29194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utilizes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Kaggle API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access a comprehensive, regularly updated IMDb dataset. This ensures data freshness and reliability.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952500" y="40243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Initial query matching titles and release years.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52500" y="45196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Trimming metadata to only relevant "grounded" fields.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952500" y="50149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Selection of analysis selection left to the user.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624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577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5301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ACQUISITION &amp; PREPROCESSING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232886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Leveraging Kaggle API</a:t>
            </a:r>
            <a:endParaRPr/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3100" y="2237078"/>
            <a:ext cx="5790326" cy="3703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6537"/>
            <a:ext cx="5334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76537"/>
            <a:ext cx="5334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866775" y="3662362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Integration of Gemini API as an interpretation layer. Unlike generic chatbots, the application uses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targeted predefined template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that wraps raw metadata.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581775" y="3662362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By providing the exact data required, the model is constrained to the provided context. This inhibits "wandering neural pathways" and enforces factual fidelity.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SEMANTIC ANALYSIS WITH GEMINI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66775" y="3071812"/>
            <a:ext cx="498062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The Reasoning Engine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581775" y="3071812"/>
            <a:ext cx="498062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Forcing Context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6381750" y="26717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LLM is instructed to output results using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restricted set of HTML tags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This enables immediate front-end rendering without complex parsing.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762750" y="37766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Narrative Summarization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762750" y="42719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Pedigree Evaluation (Cast/Crew)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762750" y="47672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Style Recommendations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762750" y="52625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Final "Worth Watching" Verdict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USER INTERFACE INTEGRATION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381750" y="208121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From Metadata to Verdict</a:t>
            </a:r>
            <a:endParaRPr/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150" y="1761225"/>
            <a:ext cx="5500677" cy="4149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/>
          <p:nvPr/>
        </p:nvSpPr>
        <p:spPr>
          <a:xfrm>
            <a:off x="571500" y="2809875"/>
            <a:ext cx="11049000" cy="2409825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23"/>
          <p:cNvGraphicFramePr/>
          <p:nvPr/>
        </p:nvGraphicFramePr>
        <p:xfrm>
          <a:off x="571500" y="2809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{5562FAC0-D34F-4D06-8EA7-E7BC459543E6}</a:tableStyleId>
              </a:tblPr>
              <a:tblGrid>
                <a:gridCol w="3106350"/>
                <a:gridCol w="2935625"/>
                <a:gridCol w="5007025"/>
              </a:tblGrid>
              <a:tr h="60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Hallucination Source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General LLM Risk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Proposed Solution (Movie Analyzer)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Knowledge Boundary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Interpolates missing facts.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Dataset Grounding:</a:t>
                      </a: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Restricted to IMDb metadata.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Domain Metadata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Fabricates obscure details.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Pre-conditioned Prompts:</a:t>
                      </a: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Specific data injection.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Logic Errors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Focuses on conversational flow.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Output Serialization:</a:t>
                      </a:r>
                      <a:r>
                        <a:rPr b="0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Restricted HTML tags.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3"/>
          <p:cNvSpPr/>
          <p:nvPr/>
        </p:nvSpPr>
        <p:spPr>
          <a:xfrm>
            <a:off x="571500" y="3500437"/>
            <a:ext cx="310634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3677840" y="3500437"/>
            <a:ext cx="29356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613475" y="3500437"/>
            <a:ext cx="50070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71500" y="4071937"/>
            <a:ext cx="310634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3677840" y="4071937"/>
            <a:ext cx="29356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613475" y="4071937"/>
            <a:ext cx="50070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71500" y="4643437"/>
            <a:ext cx="310634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677840" y="4643437"/>
            <a:ext cx="29356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6613475" y="4643437"/>
            <a:ext cx="50070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MITIGATING HALLUCINATIONS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571500" y="20574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Current Status: Prototype Pipeline Completed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265167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Next Step: Empirical Evaluation of Synthesis Accuracy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295275" y="571500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